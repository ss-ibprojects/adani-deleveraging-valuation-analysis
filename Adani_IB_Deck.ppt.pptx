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grandir Bold" charset="1" panose="00000800000000000000"/>
      <p:regular r:id="rId14"/>
    </p:embeddedFont>
    <p:embeddedFont>
      <p:font typeface="Poppins" charset="1" panose="00000500000000000000"/>
      <p:regular r:id="rId15"/>
    </p:embeddedFont>
    <p:embeddedFont>
      <p:font typeface="Poppins Bold" charset="1" panose="00000800000000000000"/>
      <p:regular r:id="rId16"/>
    </p:embeddedFont>
    <p:embeddedFont>
      <p:font typeface="Poppins Semi-Bold" charset="1" panose="000007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404750">
            <a:off x="12804501" y="452051"/>
            <a:ext cx="7637114" cy="5053457"/>
          </a:xfrm>
          <a:custGeom>
            <a:avLst/>
            <a:gdLst/>
            <a:ahLst/>
            <a:cxnLst/>
            <a:rect r="r" b="b" t="t" l="l"/>
            <a:pathLst>
              <a:path h="5053457" w="7637114">
                <a:moveTo>
                  <a:pt x="0" y="0"/>
                </a:moveTo>
                <a:lnTo>
                  <a:pt x="7637113" y="0"/>
                </a:lnTo>
                <a:lnTo>
                  <a:pt x="7637113" y="5053457"/>
                </a:lnTo>
                <a:lnTo>
                  <a:pt x="0" y="50534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15019389" y="5988820"/>
            <a:ext cx="1393222" cy="6254175"/>
            <a:chOff x="0" y="0"/>
            <a:chExt cx="660400" cy="29645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0400" cy="2964536"/>
            </a:xfrm>
            <a:custGeom>
              <a:avLst/>
              <a:gdLst/>
              <a:ahLst/>
              <a:cxnLst/>
              <a:rect r="r" b="b" t="t" l="l"/>
              <a:pathLst>
                <a:path h="2964536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76298"/>
                  </a:cubicBezTo>
                  <a:lnTo>
                    <a:pt x="660400" y="2964536"/>
                  </a:lnTo>
                  <a:lnTo>
                    <a:pt x="0" y="2964536"/>
                  </a:lnTo>
                  <a:lnTo>
                    <a:pt x="0" y="378219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60325"/>
              <a:ext cx="660400" cy="2904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851696" y="-1783737"/>
            <a:ext cx="6003024" cy="4114800"/>
          </a:xfrm>
          <a:custGeom>
            <a:avLst/>
            <a:gdLst/>
            <a:ahLst/>
            <a:cxnLst/>
            <a:rect r="r" b="b" t="t" l="l"/>
            <a:pathLst>
              <a:path h="4114800" w="6003024">
                <a:moveTo>
                  <a:pt x="0" y="0"/>
                </a:moveTo>
                <a:lnTo>
                  <a:pt x="6003024" y="0"/>
                </a:lnTo>
                <a:lnTo>
                  <a:pt x="60030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-2858016" y="8820019"/>
            <a:ext cx="6003024" cy="4114800"/>
          </a:xfrm>
          <a:custGeom>
            <a:avLst/>
            <a:gdLst/>
            <a:ahLst/>
            <a:cxnLst/>
            <a:rect r="r" b="b" t="t" l="l"/>
            <a:pathLst>
              <a:path h="4114800" w="6003024">
                <a:moveTo>
                  <a:pt x="0" y="0"/>
                </a:moveTo>
                <a:lnTo>
                  <a:pt x="6003023" y="0"/>
                </a:lnTo>
                <a:lnTo>
                  <a:pt x="60030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10463851">
            <a:off x="-2021619" y="318835"/>
            <a:ext cx="6750322" cy="4466669"/>
          </a:xfrm>
          <a:custGeom>
            <a:avLst/>
            <a:gdLst/>
            <a:ahLst/>
            <a:cxnLst/>
            <a:rect r="r" b="b" t="t" l="l"/>
            <a:pathLst>
              <a:path h="4466669" w="6750322">
                <a:moveTo>
                  <a:pt x="6750322" y="0"/>
                </a:moveTo>
                <a:lnTo>
                  <a:pt x="0" y="0"/>
                </a:lnTo>
                <a:lnTo>
                  <a:pt x="0" y="4466670"/>
                </a:lnTo>
                <a:lnTo>
                  <a:pt x="6750322" y="4466670"/>
                </a:lnTo>
                <a:lnTo>
                  <a:pt x="675032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17259300" y="8641768"/>
            <a:ext cx="717992" cy="717992"/>
          </a:xfrm>
          <a:custGeom>
            <a:avLst/>
            <a:gdLst/>
            <a:ahLst/>
            <a:cxnLst/>
            <a:rect r="r" b="b" t="t" l="l"/>
            <a:pathLst>
              <a:path h="717992" w="717992">
                <a:moveTo>
                  <a:pt x="0" y="0"/>
                </a:moveTo>
                <a:lnTo>
                  <a:pt x="717992" y="0"/>
                </a:lnTo>
                <a:lnTo>
                  <a:pt x="717992" y="717992"/>
                </a:lnTo>
                <a:lnTo>
                  <a:pt x="0" y="7179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2700000">
            <a:off x="911018" y="9761865"/>
            <a:ext cx="1434036" cy="1512936"/>
            <a:chOff x="0" y="0"/>
            <a:chExt cx="377689" cy="39846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7689" cy="398469"/>
            </a:xfrm>
            <a:custGeom>
              <a:avLst/>
              <a:gdLst/>
              <a:ahLst/>
              <a:cxnLst/>
              <a:rect r="r" b="b" t="t" l="l"/>
              <a:pathLst>
                <a:path h="398469" w="377689">
                  <a:moveTo>
                    <a:pt x="0" y="0"/>
                  </a:moveTo>
                  <a:lnTo>
                    <a:pt x="377689" y="0"/>
                  </a:lnTo>
                  <a:lnTo>
                    <a:pt x="377689" y="398469"/>
                  </a:lnTo>
                  <a:lnTo>
                    <a:pt x="0" y="398469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377689" cy="4651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2700000">
            <a:off x="15571880" y="-159998"/>
            <a:ext cx="1602571" cy="1595902"/>
            <a:chOff x="0" y="0"/>
            <a:chExt cx="422076" cy="4203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2076" cy="420320"/>
            </a:xfrm>
            <a:custGeom>
              <a:avLst/>
              <a:gdLst/>
              <a:ahLst/>
              <a:cxnLst/>
              <a:rect r="r" b="b" t="t" l="l"/>
              <a:pathLst>
                <a:path h="420320" w="422076">
                  <a:moveTo>
                    <a:pt x="0" y="0"/>
                  </a:moveTo>
                  <a:lnTo>
                    <a:pt x="422076" y="0"/>
                  </a:lnTo>
                  <a:lnTo>
                    <a:pt x="422076" y="420320"/>
                  </a:lnTo>
                  <a:lnTo>
                    <a:pt x="0" y="42032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422076" cy="4869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754206" y="828461"/>
            <a:ext cx="548988" cy="2602961"/>
          </a:xfrm>
          <a:custGeom>
            <a:avLst/>
            <a:gdLst/>
            <a:ahLst/>
            <a:cxnLst/>
            <a:rect r="r" b="b" t="t" l="l"/>
            <a:pathLst>
              <a:path h="2602961" w="548988">
                <a:moveTo>
                  <a:pt x="0" y="0"/>
                </a:moveTo>
                <a:lnTo>
                  <a:pt x="548988" y="0"/>
                </a:lnTo>
                <a:lnTo>
                  <a:pt x="548988" y="2602961"/>
                </a:lnTo>
                <a:lnTo>
                  <a:pt x="0" y="26029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79048" y="273663"/>
            <a:ext cx="548988" cy="2602961"/>
          </a:xfrm>
          <a:custGeom>
            <a:avLst/>
            <a:gdLst/>
            <a:ahLst/>
            <a:cxnLst/>
            <a:rect r="r" b="b" t="t" l="l"/>
            <a:pathLst>
              <a:path h="2602961" w="548988">
                <a:moveTo>
                  <a:pt x="0" y="0"/>
                </a:moveTo>
                <a:lnTo>
                  <a:pt x="548988" y="0"/>
                </a:lnTo>
                <a:lnTo>
                  <a:pt x="548988" y="2602961"/>
                </a:lnTo>
                <a:lnTo>
                  <a:pt x="0" y="26029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51704" y="4582118"/>
            <a:ext cx="17125588" cy="3269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60"/>
              </a:lnSpc>
            </a:pPr>
            <a:r>
              <a:rPr lang="en-US" sz="5900" b="true">
                <a:solidFill>
                  <a:srgbClr val="111111"/>
                </a:solidFill>
                <a:latin typeface="Agrandir Bold"/>
                <a:ea typeface="Agrandir Bold"/>
                <a:cs typeface="Agrandir Bold"/>
                <a:sym typeface="Agrandir Bold"/>
              </a:rPr>
              <a:t>Ad</a:t>
            </a:r>
            <a:r>
              <a:rPr lang="en-US" sz="5900" b="true">
                <a:solidFill>
                  <a:srgbClr val="111111"/>
                </a:solidFill>
                <a:latin typeface="Agrandir Bold"/>
                <a:ea typeface="Agrandir Bold"/>
                <a:cs typeface="Agrandir Bold"/>
                <a:sym typeface="Agrandir Bold"/>
              </a:rPr>
              <a:t>ani Group: Capital Structure &amp; Deleveraging Strategy</a:t>
            </a:r>
          </a:p>
          <a:p>
            <a:pPr algn="l">
              <a:lnSpc>
                <a:spcPts val="8260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3746997" y="8575093"/>
            <a:ext cx="263938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Presented By: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14421" y="9030183"/>
            <a:ext cx="5030579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Sanjana Stephen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51704" y="6894457"/>
            <a:ext cx="7806571" cy="677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Should St</a:t>
            </a:r>
            <a:r>
              <a:rPr lang="en-US" sz="3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ake Sales Unlock Value?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59042" y="1887390"/>
            <a:ext cx="5406668" cy="5406668"/>
          </a:xfrm>
          <a:custGeom>
            <a:avLst/>
            <a:gdLst/>
            <a:ahLst/>
            <a:cxnLst/>
            <a:rect r="r" b="b" t="t" l="l"/>
            <a:pathLst>
              <a:path h="5406668" w="5406668">
                <a:moveTo>
                  <a:pt x="0" y="0"/>
                </a:moveTo>
                <a:lnTo>
                  <a:pt x="5406668" y="0"/>
                </a:lnTo>
                <a:lnTo>
                  <a:pt x="5406668" y="5406668"/>
                </a:lnTo>
                <a:lnTo>
                  <a:pt x="0" y="5406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991364" y="4724966"/>
            <a:ext cx="5406668" cy="5406668"/>
          </a:xfrm>
          <a:custGeom>
            <a:avLst/>
            <a:gdLst/>
            <a:ahLst/>
            <a:cxnLst/>
            <a:rect r="r" b="b" t="t" l="l"/>
            <a:pathLst>
              <a:path h="5406668" w="5406668">
                <a:moveTo>
                  <a:pt x="0" y="0"/>
                </a:moveTo>
                <a:lnTo>
                  <a:pt x="5406669" y="0"/>
                </a:lnTo>
                <a:lnTo>
                  <a:pt x="5406669" y="5406668"/>
                </a:lnTo>
                <a:lnTo>
                  <a:pt x="0" y="5406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913439">
            <a:off x="10129424" y="7708043"/>
            <a:ext cx="9849240" cy="8488254"/>
          </a:xfrm>
          <a:custGeom>
            <a:avLst/>
            <a:gdLst/>
            <a:ahLst/>
            <a:cxnLst/>
            <a:rect r="r" b="b" t="t" l="l"/>
            <a:pathLst>
              <a:path h="8488254" w="9849240">
                <a:moveTo>
                  <a:pt x="0" y="0"/>
                </a:moveTo>
                <a:lnTo>
                  <a:pt x="9849239" y="0"/>
                </a:lnTo>
                <a:lnTo>
                  <a:pt x="9849239" y="8488254"/>
                </a:lnTo>
                <a:lnTo>
                  <a:pt x="0" y="84882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091524" y="982856"/>
            <a:ext cx="9773081" cy="1482454"/>
            <a:chOff x="0" y="0"/>
            <a:chExt cx="2573980" cy="39044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73980" cy="390441"/>
            </a:xfrm>
            <a:custGeom>
              <a:avLst/>
              <a:gdLst/>
              <a:ahLst/>
              <a:cxnLst/>
              <a:rect r="r" b="b" t="t" l="l"/>
              <a:pathLst>
                <a:path h="390441" w="2573980">
                  <a:moveTo>
                    <a:pt x="0" y="0"/>
                  </a:moveTo>
                  <a:lnTo>
                    <a:pt x="2573980" y="0"/>
                  </a:lnTo>
                  <a:lnTo>
                    <a:pt x="2573980" y="390441"/>
                  </a:lnTo>
                  <a:lnTo>
                    <a:pt x="0" y="390441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573980" cy="4571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387073" y="9258300"/>
            <a:ext cx="1206410" cy="1218914"/>
            <a:chOff x="0" y="0"/>
            <a:chExt cx="317738" cy="3210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7738" cy="321031"/>
            </a:xfrm>
            <a:custGeom>
              <a:avLst/>
              <a:gdLst/>
              <a:ahLst/>
              <a:cxnLst/>
              <a:rect r="r" b="b" t="t" l="l"/>
              <a:pathLst>
                <a:path h="321031" w="317738">
                  <a:moveTo>
                    <a:pt x="0" y="0"/>
                  </a:moveTo>
                  <a:lnTo>
                    <a:pt x="317738" y="0"/>
                  </a:lnTo>
                  <a:lnTo>
                    <a:pt x="317738" y="321031"/>
                  </a:lnTo>
                  <a:lnTo>
                    <a:pt x="0" y="321031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317738" cy="387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259300" y="-190214"/>
            <a:ext cx="1206410" cy="1218914"/>
            <a:chOff x="0" y="0"/>
            <a:chExt cx="317738" cy="3210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7738" cy="321031"/>
            </a:xfrm>
            <a:custGeom>
              <a:avLst/>
              <a:gdLst/>
              <a:ahLst/>
              <a:cxnLst/>
              <a:rect r="r" b="b" t="t" l="l"/>
              <a:pathLst>
                <a:path h="321031" w="317738">
                  <a:moveTo>
                    <a:pt x="0" y="0"/>
                  </a:moveTo>
                  <a:lnTo>
                    <a:pt x="317738" y="0"/>
                  </a:lnTo>
                  <a:lnTo>
                    <a:pt x="317738" y="321031"/>
                  </a:lnTo>
                  <a:lnTo>
                    <a:pt x="0" y="321031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317738" cy="387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1864606" y="-265633"/>
            <a:ext cx="2661507" cy="2496977"/>
          </a:xfrm>
          <a:custGeom>
            <a:avLst/>
            <a:gdLst/>
            <a:ahLst/>
            <a:cxnLst/>
            <a:rect r="r" b="b" t="t" l="l"/>
            <a:pathLst>
              <a:path h="2496977" w="2661507">
                <a:moveTo>
                  <a:pt x="0" y="0"/>
                </a:moveTo>
                <a:lnTo>
                  <a:pt x="2661506" y="0"/>
                </a:lnTo>
                <a:lnTo>
                  <a:pt x="2661506" y="2496977"/>
                </a:lnTo>
                <a:lnTo>
                  <a:pt x="0" y="2496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376693" y="1243148"/>
            <a:ext cx="10402357" cy="108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Business Overview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76693" y="3458845"/>
            <a:ext cx="12347071" cy="490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3099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iversified infrastructure conglomerate</a:t>
            </a:r>
          </a:p>
          <a:p>
            <a:pPr algn="l">
              <a:lnSpc>
                <a:spcPts val="4339"/>
              </a:lnSpc>
            </a:pPr>
          </a:p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Core sectors:</a:t>
            </a:r>
            <a:r>
              <a:rPr lang="en-US" sz="3099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99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Energy,</a:t>
            </a:r>
            <a:r>
              <a:rPr lang="en-US" sz="3099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99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Ports, Airports,</a:t>
            </a:r>
            <a:r>
              <a:rPr lang="en-US" sz="3099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99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Infrastructure</a:t>
            </a:r>
          </a:p>
          <a:p>
            <a:pPr algn="l">
              <a:lnSpc>
                <a:spcPts val="4339"/>
              </a:lnSpc>
            </a:pPr>
          </a:p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Capital-intensive operations</a:t>
            </a:r>
          </a:p>
          <a:p>
            <a:pPr algn="l">
              <a:lnSpc>
                <a:spcPts val="4339"/>
              </a:lnSpc>
            </a:pPr>
          </a:p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High reliance on debt financing</a:t>
            </a:r>
          </a:p>
          <a:p>
            <a:pPr algn="l">
              <a:lnSpc>
                <a:spcPts val="4339"/>
              </a:lnSpc>
            </a:pPr>
          </a:p>
          <a:p>
            <a:pPr algn="l">
              <a:lnSpc>
                <a:spcPts val="4339"/>
              </a:lnSpc>
            </a:pPr>
          </a:p>
        </p:txBody>
      </p:sp>
      <p:sp>
        <p:nvSpPr>
          <p:cNvPr name="Freeform 17" id="17"/>
          <p:cNvSpPr/>
          <p:nvPr/>
        </p:nvSpPr>
        <p:spPr>
          <a:xfrm flipH="false" flipV="false" rot="-5917297">
            <a:off x="-2155649" y="-2934544"/>
            <a:ext cx="6368698" cy="5488660"/>
          </a:xfrm>
          <a:custGeom>
            <a:avLst/>
            <a:gdLst/>
            <a:ahLst/>
            <a:cxnLst/>
            <a:rect r="r" b="b" t="t" l="l"/>
            <a:pathLst>
              <a:path h="5488660" w="6368698">
                <a:moveTo>
                  <a:pt x="0" y="0"/>
                </a:moveTo>
                <a:lnTo>
                  <a:pt x="6368698" y="0"/>
                </a:lnTo>
                <a:lnTo>
                  <a:pt x="6368698" y="5488660"/>
                </a:lnTo>
                <a:lnTo>
                  <a:pt x="0" y="5488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66736" y="1757938"/>
            <a:ext cx="5628742" cy="6250522"/>
          </a:xfrm>
          <a:custGeom>
            <a:avLst/>
            <a:gdLst/>
            <a:ahLst/>
            <a:cxnLst/>
            <a:rect r="r" b="b" t="t" l="l"/>
            <a:pathLst>
              <a:path h="6250522" w="5628742">
                <a:moveTo>
                  <a:pt x="0" y="0"/>
                </a:moveTo>
                <a:lnTo>
                  <a:pt x="5628742" y="0"/>
                </a:lnTo>
                <a:lnTo>
                  <a:pt x="5628742" y="6250522"/>
                </a:lnTo>
                <a:lnTo>
                  <a:pt x="0" y="62505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9752959">
            <a:off x="-5326295" y="3788961"/>
            <a:ext cx="8324419" cy="7174136"/>
          </a:xfrm>
          <a:custGeom>
            <a:avLst/>
            <a:gdLst/>
            <a:ahLst/>
            <a:cxnLst/>
            <a:rect r="r" b="b" t="t" l="l"/>
            <a:pathLst>
              <a:path h="7174136" w="8324419">
                <a:moveTo>
                  <a:pt x="0" y="0"/>
                </a:moveTo>
                <a:lnTo>
                  <a:pt x="8324420" y="0"/>
                </a:lnTo>
                <a:lnTo>
                  <a:pt x="8324420" y="7174136"/>
                </a:lnTo>
                <a:lnTo>
                  <a:pt x="0" y="71741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8350144">
            <a:off x="8165679" y="-6482996"/>
            <a:ext cx="9849240" cy="8488254"/>
          </a:xfrm>
          <a:custGeom>
            <a:avLst/>
            <a:gdLst/>
            <a:ahLst/>
            <a:cxnLst/>
            <a:rect r="r" b="b" t="t" l="l"/>
            <a:pathLst>
              <a:path h="8488254" w="9849240">
                <a:moveTo>
                  <a:pt x="0" y="0"/>
                </a:moveTo>
                <a:lnTo>
                  <a:pt x="9849240" y="0"/>
                </a:lnTo>
                <a:lnTo>
                  <a:pt x="9849240" y="8488254"/>
                </a:lnTo>
                <a:lnTo>
                  <a:pt x="0" y="84882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259633" y="591683"/>
            <a:ext cx="11939219" cy="2595912"/>
            <a:chOff x="0" y="0"/>
            <a:chExt cx="3144486" cy="6836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44486" cy="683697"/>
            </a:xfrm>
            <a:custGeom>
              <a:avLst/>
              <a:gdLst/>
              <a:ahLst/>
              <a:cxnLst/>
              <a:rect r="r" b="b" t="t" l="l"/>
              <a:pathLst>
                <a:path h="683697" w="3144486">
                  <a:moveTo>
                    <a:pt x="0" y="0"/>
                  </a:moveTo>
                  <a:lnTo>
                    <a:pt x="3144486" y="0"/>
                  </a:lnTo>
                  <a:lnTo>
                    <a:pt x="3144486" y="683697"/>
                  </a:lnTo>
                  <a:lnTo>
                    <a:pt x="0" y="683697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3144486" cy="750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43600" y="1260671"/>
            <a:ext cx="10649391" cy="114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The Problem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79673" y="3590137"/>
            <a:ext cx="8813092" cy="544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true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Key Issue: High Leverage</a:t>
            </a:r>
          </a:p>
          <a:p>
            <a:pPr algn="l" marL="669289" indent="-334645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Significant debt </a:t>
            </a:r>
            <a:r>
              <a:rPr lang="en-US" sz="3099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across group entities</a:t>
            </a:r>
          </a:p>
          <a:p>
            <a:pPr algn="l" marL="669289" indent="-334645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Exposure to interest rate risk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Investor Concerns:</a:t>
            </a:r>
          </a:p>
          <a:p>
            <a:pPr algn="l" marL="669289" indent="-334645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Debt sustainability</a:t>
            </a:r>
          </a:p>
          <a:p>
            <a:pPr algn="l" marL="669289" indent="-334645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Transparency</a:t>
            </a:r>
          </a:p>
          <a:p>
            <a:pPr algn="l" marL="669289" indent="-334645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Valuation multiples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</a:p>
          <a:p>
            <a:pPr algn="l">
              <a:lnSpc>
                <a:spcPts val="4339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643777" y="0"/>
            <a:ext cx="548988" cy="2602961"/>
          </a:xfrm>
          <a:custGeom>
            <a:avLst/>
            <a:gdLst/>
            <a:ahLst/>
            <a:cxnLst/>
            <a:rect r="r" b="b" t="t" l="l"/>
            <a:pathLst>
              <a:path h="2602961" w="548988">
                <a:moveTo>
                  <a:pt x="0" y="0"/>
                </a:moveTo>
                <a:lnTo>
                  <a:pt x="548988" y="0"/>
                </a:lnTo>
                <a:lnTo>
                  <a:pt x="548988" y="2602961"/>
                </a:lnTo>
                <a:lnTo>
                  <a:pt x="0" y="26029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379673" y="8639810"/>
            <a:ext cx="10250844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 Market</a:t>
            </a:r>
            <a:r>
              <a:rPr lang="en-US" b="true" sz="3399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 perception directly impacts valu</a:t>
            </a:r>
            <a:r>
              <a:rPr lang="en-US" b="true" sz="3399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45380" y="-901500"/>
            <a:ext cx="10283828" cy="13195268"/>
            <a:chOff x="0" y="0"/>
            <a:chExt cx="2708498" cy="34752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8498" cy="3475297"/>
            </a:xfrm>
            <a:custGeom>
              <a:avLst/>
              <a:gdLst/>
              <a:ahLst/>
              <a:cxnLst/>
              <a:rect r="r" b="b" t="t" l="l"/>
              <a:pathLst>
                <a:path h="3475297" w="2708498">
                  <a:moveTo>
                    <a:pt x="0" y="0"/>
                  </a:moveTo>
                  <a:lnTo>
                    <a:pt x="2708498" y="0"/>
                  </a:lnTo>
                  <a:lnTo>
                    <a:pt x="2708498" y="3475297"/>
                  </a:lnTo>
                  <a:lnTo>
                    <a:pt x="0" y="347529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708498" cy="35419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9177516">
            <a:off x="-1430420" y="-4040474"/>
            <a:ext cx="7115412" cy="15060368"/>
            <a:chOff x="0" y="0"/>
            <a:chExt cx="1874018" cy="39665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74018" cy="3966516"/>
            </a:xfrm>
            <a:custGeom>
              <a:avLst/>
              <a:gdLst/>
              <a:ahLst/>
              <a:cxnLst/>
              <a:rect r="r" b="b" t="t" l="l"/>
              <a:pathLst>
                <a:path h="3966516" w="1874018">
                  <a:moveTo>
                    <a:pt x="0" y="0"/>
                  </a:moveTo>
                  <a:lnTo>
                    <a:pt x="1874018" y="0"/>
                  </a:lnTo>
                  <a:lnTo>
                    <a:pt x="1874018" y="3966516"/>
                  </a:lnTo>
                  <a:lnTo>
                    <a:pt x="0" y="396651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874018" cy="4033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10800000">
            <a:off x="-1785671" y="6482690"/>
            <a:ext cx="5628742" cy="6250522"/>
          </a:xfrm>
          <a:custGeom>
            <a:avLst/>
            <a:gdLst/>
            <a:ahLst/>
            <a:cxnLst/>
            <a:rect r="r" b="b" t="t" l="l"/>
            <a:pathLst>
              <a:path h="6250522" w="5628742">
                <a:moveTo>
                  <a:pt x="0" y="0"/>
                </a:moveTo>
                <a:lnTo>
                  <a:pt x="5628742" y="0"/>
                </a:lnTo>
                <a:lnTo>
                  <a:pt x="5628742" y="6250522"/>
                </a:lnTo>
                <a:lnTo>
                  <a:pt x="0" y="62505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069489" y="2452089"/>
            <a:ext cx="716341" cy="716341"/>
          </a:xfrm>
          <a:custGeom>
            <a:avLst/>
            <a:gdLst/>
            <a:ahLst/>
            <a:cxnLst/>
            <a:rect r="r" b="b" t="t" l="l"/>
            <a:pathLst>
              <a:path h="716341" w="716341">
                <a:moveTo>
                  <a:pt x="0" y="0"/>
                </a:moveTo>
                <a:lnTo>
                  <a:pt x="716341" y="0"/>
                </a:lnTo>
                <a:lnTo>
                  <a:pt x="716341" y="716341"/>
                </a:lnTo>
                <a:lnTo>
                  <a:pt x="0" y="7163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069489" y="4427159"/>
            <a:ext cx="716341" cy="716341"/>
          </a:xfrm>
          <a:custGeom>
            <a:avLst/>
            <a:gdLst/>
            <a:ahLst/>
            <a:cxnLst/>
            <a:rect r="r" b="b" t="t" l="l"/>
            <a:pathLst>
              <a:path h="716341" w="716341">
                <a:moveTo>
                  <a:pt x="0" y="0"/>
                </a:moveTo>
                <a:lnTo>
                  <a:pt x="716341" y="0"/>
                </a:lnTo>
                <a:lnTo>
                  <a:pt x="716341" y="716341"/>
                </a:lnTo>
                <a:lnTo>
                  <a:pt x="0" y="7163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069489" y="6596239"/>
            <a:ext cx="716341" cy="716341"/>
          </a:xfrm>
          <a:custGeom>
            <a:avLst/>
            <a:gdLst/>
            <a:ahLst/>
            <a:cxnLst/>
            <a:rect r="r" b="b" t="t" l="l"/>
            <a:pathLst>
              <a:path h="716341" w="716341">
                <a:moveTo>
                  <a:pt x="0" y="0"/>
                </a:moveTo>
                <a:lnTo>
                  <a:pt x="716341" y="0"/>
                </a:lnTo>
                <a:lnTo>
                  <a:pt x="716341" y="716341"/>
                </a:lnTo>
                <a:lnTo>
                  <a:pt x="0" y="7163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069489" y="8773107"/>
            <a:ext cx="716341" cy="716341"/>
          </a:xfrm>
          <a:custGeom>
            <a:avLst/>
            <a:gdLst/>
            <a:ahLst/>
            <a:cxnLst/>
            <a:rect r="r" b="b" t="t" l="l"/>
            <a:pathLst>
              <a:path h="716341" w="716341">
                <a:moveTo>
                  <a:pt x="0" y="0"/>
                </a:moveTo>
                <a:lnTo>
                  <a:pt x="716341" y="0"/>
                </a:lnTo>
                <a:lnTo>
                  <a:pt x="716341" y="716340"/>
                </a:lnTo>
                <a:lnTo>
                  <a:pt x="0" y="7163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42084" y="1962940"/>
            <a:ext cx="6658648" cy="208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111111"/>
                </a:solidFill>
                <a:latin typeface="Agrandir Bold"/>
                <a:ea typeface="Agrandir Bold"/>
                <a:cs typeface="Agrandir Bold"/>
                <a:sym typeface="Agrandir Bold"/>
              </a:rPr>
              <a:t>Strategic Options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37777" y="2464590"/>
            <a:ext cx="6252340" cy="1102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true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Stak</a:t>
            </a:r>
            <a:r>
              <a:rPr lang="en-US" b="true" sz="3099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 Sale (Equity Dilution)</a:t>
            </a:r>
          </a:p>
          <a:p>
            <a:pPr algn="l">
              <a:lnSpc>
                <a:spcPts val="433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9406795" y="6627067"/>
            <a:ext cx="6283322" cy="5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</a:t>
            </a:r>
            <a:r>
              <a:rPr lang="en-US" b="true" sz="3099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ss</a:t>
            </a:r>
            <a:r>
              <a:rPr lang="en-US" b="true" sz="3099" strike="noStrike" u="none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et Mone</a:t>
            </a:r>
            <a:r>
              <a:rPr lang="en-US" b="true" sz="3099" strike="noStrike" u="none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</a:t>
            </a:r>
            <a:r>
              <a:rPr lang="en-US" b="true" sz="3099" strike="noStrike" u="none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</a:t>
            </a:r>
            <a:r>
              <a:rPr lang="en-US" b="true" sz="3099" strike="noStrike" u="none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za</a:t>
            </a:r>
            <a:r>
              <a:rPr lang="en-US" b="true" sz="3099" strike="noStrike" u="none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29208" y="4518485"/>
            <a:ext cx="5435140" cy="5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</a:t>
            </a:r>
            <a:r>
              <a:rPr lang="en-US" b="true" sz="3099" strike="noStrike" u="none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ebt Refi</a:t>
            </a:r>
            <a:r>
              <a:rPr lang="en-US" b="true" sz="3099" strike="noStrike" u="none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nan</a:t>
            </a:r>
            <a:r>
              <a:rPr lang="en-US" b="true" sz="3099" strike="noStrike" u="none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ci</a:t>
            </a:r>
            <a:r>
              <a:rPr lang="en-US" b="true" sz="3099" strike="noStrike" u="none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37777" y="8387087"/>
            <a:ext cx="5556038" cy="110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</a:t>
            </a:r>
            <a:r>
              <a:rPr lang="en-US" b="true" sz="3099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tern</a:t>
            </a:r>
            <a:r>
              <a:rPr lang="en-US" b="true" sz="3099" strike="noStrike" u="none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al Cash Flow Optimization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-10800000">
            <a:off x="15031949" y="-2034616"/>
            <a:ext cx="5628742" cy="6250522"/>
          </a:xfrm>
          <a:custGeom>
            <a:avLst/>
            <a:gdLst/>
            <a:ahLst/>
            <a:cxnLst/>
            <a:rect r="r" b="b" t="t" l="l"/>
            <a:pathLst>
              <a:path h="6250522" w="5628742">
                <a:moveTo>
                  <a:pt x="0" y="0"/>
                </a:moveTo>
                <a:lnTo>
                  <a:pt x="5628742" y="0"/>
                </a:lnTo>
                <a:lnTo>
                  <a:pt x="5628742" y="6250522"/>
                </a:lnTo>
                <a:lnTo>
                  <a:pt x="0" y="62505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7480892" y="463024"/>
            <a:ext cx="1614216" cy="1614216"/>
          </a:xfrm>
          <a:custGeom>
            <a:avLst/>
            <a:gdLst/>
            <a:ahLst/>
            <a:cxnLst/>
            <a:rect r="r" b="b" t="t" l="l"/>
            <a:pathLst>
              <a:path h="1614216" w="1614216">
                <a:moveTo>
                  <a:pt x="0" y="0"/>
                </a:moveTo>
                <a:lnTo>
                  <a:pt x="1614216" y="0"/>
                </a:lnTo>
                <a:lnTo>
                  <a:pt x="1614216" y="1614216"/>
                </a:lnTo>
                <a:lnTo>
                  <a:pt x="0" y="16142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-807108" y="7644084"/>
            <a:ext cx="1614216" cy="1614216"/>
          </a:xfrm>
          <a:custGeom>
            <a:avLst/>
            <a:gdLst/>
            <a:ahLst/>
            <a:cxnLst/>
            <a:rect r="r" b="b" t="t" l="l"/>
            <a:pathLst>
              <a:path h="1614216" w="1614216">
                <a:moveTo>
                  <a:pt x="0" y="0"/>
                </a:moveTo>
                <a:lnTo>
                  <a:pt x="1614216" y="0"/>
                </a:lnTo>
                <a:lnTo>
                  <a:pt x="1614216" y="1614216"/>
                </a:lnTo>
                <a:lnTo>
                  <a:pt x="0" y="16142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6046272">
            <a:off x="-2647774" y="-2377715"/>
            <a:ext cx="10024548" cy="6633216"/>
          </a:xfrm>
          <a:custGeom>
            <a:avLst/>
            <a:gdLst/>
            <a:ahLst/>
            <a:cxnLst/>
            <a:rect r="r" b="b" t="t" l="l"/>
            <a:pathLst>
              <a:path h="6633216" w="10024548">
                <a:moveTo>
                  <a:pt x="0" y="0"/>
                </a:moveTo>
                <a:lnTo>
                  <a:pt x="10024548" y="0"/>
                </a:lnTo>
                <a:lnTo>
                  <a:pt x="10024548" y="6633216"/>
                </a:lnTo>
                <a:lnTo>
                  <a:pt x="0" y="66332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6046272">
            <a:off x="13828683" y="4304429"/>
            <a:ext cx="10024548" cy="6633216"/>
          </a:xfrm>
          <a:custGeom>
            <a:avLst/>
            <a:gdLst/>
            <a:ahLst/>
            <a:cxnLst/>
            <a:rect r="r" b="b" t="t" l="l"/>
            <a:pathLst>
              <a:path h="6633216" w="10024548">
                <a:moveTo>
                  <a:pt x="0" y="0"/>
                </a:moveTo>
                <a:lnTo>
                  <a:pt x="10024548" y="0"/>
                </a:lnTo>
                <a:lnTo>
                  <a:pt x="10024548" y="6633216"/>
                </a:lnTo>
                <a:lnTo>
                  <a:pt x="0" y="66332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032875" y="1270132"/>
            <a:ext cx="1809750" cy="1697875"/>
          </a:xfrm>
          <a:custGeom>
            <a:avLst/>
            <a:gdLst/>
            <a:ahLst/>
            <a:cxnLst/>
            <a:rect r="r" b="b" t="t" l="l"/>
            <a:pathLst>
              <a:path h="1697875" w="1809750">
                <a:moveTo>
                  <a:pt x="0" y="0"/>
                </a:moveTo>
                <a:lnTo>
                  <a:pt x="1809750" y="0"/>
                </a:lnTo>
                <a:lnTo>
                  <a:pt x="1809750" y="1697874"/>
                </a:lnTo>
                <a:lnTo>
                  <a:pt x="0" y="169787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344826" y="4619449"/>
            <a:ext cx="7290435" cy="793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sz="4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Deleveraging</a:t>
            </a:r>
            <a:r>
              <a:rPr lang="en-US" sz="4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Alternatives: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0463851">
            <a:off x="-4738643" y="-1690880"/>
            <a:ext cx="11217039" cy="7422284"/>
          </a:xfrm>
          <a:custGeom>
            <a:avLst/>
            <a:gdLst/>
            <a:ahLst/>
            <a:cxnLst/>
            <a:rect r="r" b="b" t="t" l="l"/>
            <a:pathLst>
              <a:path h="7422284" w="11217039">
                <a:moveTo>
                  <a:pt x="11217039" y="0"/>
                </a:moveTo>
                <a:lnTo>
                  <a:pt x="0" y="0"/>
                </a:lnTo>
                <a:lnTo>
                  <a:pt x="0" y="7422284"/>
                </a:lnTo>
                <a:lnTo>
                  <a:pt x="11217039" y="7422284"/>
                </a:lnTo>
                <a:lnTo>
                  <a:pt x="112170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951915" y="1632724"/>
            <a:ext cx="8632279" cy="2581630"/>
            <a:chOff x="0" y="0"/>
            <a:chExt cx="965134" cy="2886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65134" cy="288648"/>
            </a:xfrm>
            <a:custGeom>
              <a:avLst/>
              <a:gdLst/>
              <a:ahLst/>
              <a:cxnLst/>
              <a:rect r="r" b="b" t="t" l="l"/>
              <a:pathLst>
                <a:path h="288648" w="965134">
                  <a:moveTo>
                    <a:pt x="965134" y="17937"/>
                  </a:moveTo>
                  <a:lnTo>
                    <a:pt x="965134" y="270710"/>
                  </a:lnTo>
                  <a:cubicBezTo>
                    <a:pt x="965134" y="280617"/>
                    <a:pt x="957103" y="288648"/>
                    <a:pt x="947197" y="288648"/>
                  </a:cubicBezTo>
                  <a:lnTo>
                    <a:pt x="17937" y="288648"/>
                  </a:lnTo>
                  <a:cubicBezTo>
                    <a:pt x="8031" y="288648"/>
                    <a:pt x="0" y="280617"/>
                    <a:pt x="0" y="270710"/>
                  </a:cubicBezTo>
                  <a:lnTo>
                    <a:pt x="0" y="17937"/>
                  </a:lnTo>
                  <a:cubicBezTo>
                    <a:pt x="0" y="8031"/>
                    <a:pt x="8031" y="0"/>
                    <a:pt x="17937" y="0"/>
                  </a:cubicBezTo>
                  <a:lnTo>
                    <a:pt x="947197" y="0"/>
                  </a:lnTo>
                  <a:cubicBezTo>
                    <a:pt x="957103" y="0"/>
                    <a:pt x="965134" y="8031"/>
                    <a:pt x="965134" y="1793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965134" cy="3457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538927" y="316095"/>
            <a:ext cx="12654194" cy="114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80"/>
              </a:lnSpc>
              <a:spcBef>
                <a:spcPct val="0"/>
              </a:spcBef>
            </a:pPr>
            <a:r>
              <a:rPr lang="en-US" b="true" sz="6800">
                <a:solidFill>
                  <a:srgbClr val="111111"/>
                </a:solidFill>
                <a:latin typeface="Agrandir Bold"/>
                <a:ea typeface="Agrandir Bold"/>
                <a:cs typeface="Agrandir Bold"/>
                <a:sym typeface="Agrandir Bold"/>
              </a:rPr>
              <a:t> Stake Sale</a:t>
            </a:r>
            <a:r>
              <a:rPr lang="en-US" b="true" sz="6800" strike="noStrike" u="none">
                <a:solidFill>
                  <a:srgbClr val="111111"/>
                </a:solidFill>
                <a:latin typeface="Agrandir Bold"/>
                <a:ea typeface="Agrandir Bold"/>
                <a:cs typeface="Agrandir Bold"/>
                <a:sym typeface="Agrandir Bold"/>
              </a:rPr>
              <a:t> Strategy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768884" y="1664837"/>
            <a:ext cx="8632279" cy="282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9"/>
              </a:lnSpc>
            </a:pPr>
            <a:r>
              <a:rPr lang="en-US" b="true" sz="264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How it</a:t>
            </a:r>
            <a:r>
              <a:rPr lang="en-US" b="true" sz="264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works:</a:t>
            </a:r>
          </a:p>
          <a:p>
            <a:pPr algn="ctr">
              <a:lnSpc>
                <a:spcPts val="3709"/>
              </a:lnSpc>
            </a:pPr>
          </a:p>
          <a:p>
            <a:pPr algn="ctr" marL="571981" indent="-285991" lvl="1">
              <a:lnSpc>
                <a:spcPts val="3709"/>
              </a:lnSpc>
              <a:buFont typeface="Arial"/>
              <a:buChar char="•"/>
            </a:pPr>
            <a:r>
              <a:rPr lang="en-US" b="true" sz="264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Sell minority stakes in key subsidiaries</a:t>
            </a:r>
          </a:p>
          <a:p>
            <a:pPr algn="ctr" marL="571981" indent="-285991" lvl="1">
              <a:lnSpc>
                <a:spcPts val="3709"/>
              </a:lnSpc>
              <a:buFont typeface="Arial"/>
              <a:buChar char="•"/>
            </a:pPr>
            <a:r>
              <a:rPr lang="en-US" b="true" sz="264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Raise equity capital</a:t>
            </a:r>
          </a:p>
          <a:p>
            <a:pPr algn="ctr" marL="571981" indent="-285991" lvl="1">
              <a:lnSpc>
                <a:spcPts val="3709"/>
              </a:lnSpc>
              <a:buFont typeface="Arial"/>
              <a:buChar char="•"/>
            </a:pPr>
            <a:r>
              <a:rPr lang="en-US" b="true" sz="264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Use proceeds to reduce debt</a:t>
            </a:r>
          </a:p>
          <a:p>
            <a:pPr algn="ctr">
              <a:lnSpc>
                <a:spcPts val="370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882814" y="7652249"/>
            <a:ext cx="3961566" cy="1545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b="true" sz="29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</a:t>
            </a:r>
            <a:r>
              <a:rPr lang="en-US" b="true" sz="29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rowing order book with diversified projects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10800000">
            <a:off x="14938737" y="-1442416"/>
            <a:ext cx="6003024" cy="4114800"/>
          </a:xfrm>
          <a:custGeom>
            <a:avLst/>
            <a:gdLst/>
            <a:ahLst/>
            <a:cxnLst/>
            <a:rect r="r" b="b" t="t" l="l"/>
            <a:pathLst>
              <a:path h="4114800" w="6003024">
                <a:moveTo>
                  <a:pt x="0" y="0"/>
                </a:moveTo>
                <a:lnTo>
                  <a:pt x="6003024" y="0"/>
                </a:lnTo>
                <a:lnTo>
                  <a:pt x="60030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2700000">
            <a:off x="17669919" y="272232"/>
            <a:ext cx="1434036" cy="1512936"/>
            <a:chOff x="0" y="0"/>
            <a:chExt cx="377689" cy="39846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7689" cy="398469"/>
            </a:xfrm>
            <a:custGeom>
              <a:avLst/>
              <a:gdLst/>
              <a:ahLst/>
              <a:cxnLst/>
              <a:rect r="r" b="b" t="t" l="l"/>
              <a:pathLst>
                <a:path h="398469" w="377689">
                  <a:moveTo>
                    <a:pt x="0" y="0"/>
                  </a:moveTo>
                  <a:lnTo>
                    <a:pt x="377689" y="0"/>
                  </a:lnTo>
                  <a:lnTo>
                    <a:pt x="377689" y="398469"/>
                  </a:lnTo>
                  <a:lnTo>
                    <a:pt x="0" y="398469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377689" cy="4651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2700000">
            <a:off x="16325897" y="-245055"/>
            <a:ext cx="501907" cy="583443"/>
            <a:chOff x="0" y="0"/>
            <a:chExt cx="132189" cy="1536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2189" cy="153664"/>
            </a:xfrm>
            <a:custGeom>
              <a:avLst/>
              <a:gdLst/>
              <a:ahLst/>
              <a:cxnLst/>
              <a:rect r="r" b="b" t="t" l="l"/>
              <a:pathLst>
                <a:path h="153664" w="132189">
                  <a:moveTo>
                    <a:pt x="0" y="0"/>
                  </a:moveTo>
                  <a:lnTo>
                    <a:pt x="132189" y="0"/>
                  </a:lnTo>
                  <a:lnTo>
                    <a:pt x="132189" y="153664"/>
                  </a:lnTo>
                  <a:lnTo>
                    <a:pt x="0" y="153664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32189" cy="2203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-5400000">
            <a:off x="-454753" y="7958941"/>
            <a:ext cx="5406668" cy="5406668"/>
          </a:xfrm>
          <a:custGeom>
            <a:avLst/>
            <a:gdLst/>
            <a:ahLst/>
            <a:cxnLst/>
            <a:rect r="r" b="b" t="t" l="l"/>
            <a:pathLst>
              <a:path h="5406668" w="5406668">
                <a:moveTo>
                  <a:pt x="0" y="0"/>
                </a:moveTo>
                <a:lnTo>
                  <a:pt x="5406668" y="0"/>
                </a:lnTo>
                <a:lnTo>
                  <a:pt x="5406668" y="5406668"/>
                </a:lnTo>
                <a:lnTo>
                  <a:pt x="0" y="54066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-5400000">
            <a:off x="-369508" y="9777783"/>
            <a:ext cx="1957931" cy="1218914"/>
            <a:chOff x="0" y="0"/>
            <a:chExt cx="515669" cy="3210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5669" cy="321031"/>
            </a:xfrm>
            <a:custGeom>
              <a:avLst/>
              <a:gdLst/>
              <a:ahLst/>
              <a:cxnLst/>
              <a:rect r="r" b="b" t="t" l="l"/>
              <a:pathLst>
                <a:path h="321031" w="515669">
                  <a:moveTo>
                    <a:pt x="0" y="0"/>
                  </a:moveTo>
                  <a:lnTo>
                    <a:pt x="515669" y="0"/>
                  </a:lnTo>
                  <a:lnTo>
                    <a:pt x="515669" y="321031"/>
                  </a:lnTo>
                  <a:lnTo>
                    <a:pt x="0" y="321031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515669" cy="387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4717247" y="208905"/>
            <a:ext cx="442980" cy="442980"/>
          </a:xfrm>
          <a:custGeom>
            <a:avLst/>
            <a:gdLst/>
            <a:ahLst/>
            <a:cxnLst/>
            <a:rect r="r" b="b" t="t" l="l"/>
            <a:pathLst>
              <a:path h="442980" w="442980">
                <a:moveTo>
                  <a:pt x="0" y="0"/>
                </a:moveTo>
                <a:lnTo>
                  <a:pt x="442980" y="0"/>
                </a:lnTo>
                <a:lnTo>
                  <a:pt x="442980" y="442980"/>
                </a:lnTo>
                <a:lnTo>
                  <a:pt x="0" y="4429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85720" y="8080892"/>
            <a:ext cx="442980" cy="442980"/>
          </a:xfrm>
          <a:custGeom>
            <a:avLst/>
            <a:gdLst/>
            <a:ahLst/>
            <a:cxnLst/>
            <a:rect r="r" b="b" t="t" l="l"/>
            <a:pathLst>
              <a:path h="442980" w="442980">
                <a:moveTo>
                  <a:pt x="0" y="0"/>
                </a:moveTo>
                <a:lnTo>
                  <a:pt x="442980" y="0"/>
                </a:lnTo>
                <a:lnTo>
                  <a:pt x="442980" y="442980"/>
                </a:lnTo>
                <a:lnTo>
                  <a:pt x="0" y="4429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4951915" y="4616896"/>
            <a:ext cx="8632279" cy="2581630"/>
            <a:chOff x="0" y="0"/>
            <a:chExt cx="965134" cy="28864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65134" cy="288648"/>
            </a:xfrm>
            <a:custGeom>
              <a:avLst/>
              <a:gdLst/>
              <a:ahLst/>
              <a:cxnLst/>
              <a:rect r="r" b="b" t="t" l="l"/>
              <a:pathLst>
                <a:path h="288648" w="965134">
                  <a:moveTo>
                    <a:pt x="965134" y="17937"/>
                  </a:moveTo>
                  <a:lnTo>
                    <a:pt x="965134" y="270710"/>
                  </a:lnTo>
                  <a:cubicBezTo>
                    <a:pt x="965134" y="280617"/>
                    <a:pt x="957103" y="288648"/>
                    <a:pt x="947197" y="288648"/>
                  </a:cubicBezTo>
                  <a:lnTo>
                    <a:pt x="17937" y="288648"/>
                  </a:lnTo>
                  <a:cubicBezTo>
                    <a:pt x="8031" y="288648"/>
                    <a:pt x="0" y="280617"/>
                    <a:pt x="0" y="270710"/>
                  </a:cubicBezTo>
                  <a:lnTo>
                    <a:pt x="0" y="17937"/>
                  </a:lnTo>
                  <a:cubicBezTo>
                    <a:pt x="0" y="8031"/>
                    <a:pt x="8031" y="0"/>
                    <a:pt x="17937" y="0"/>
                  </a:cubicBezTo>
                  <a:lnTo>
                    <a:pt x="947197" y="0"/>
                  </a:lnTo>
                  <a:cubicBezTo>
                    <a:pt x="957103" y="0"/>
                    <a:pt x="965134" y="8031"/>
                    <a:pt x="965134" y="1793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965134" cy="3457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4951915" y="4645453"/>
            <a:ext cx="8632279" cy="282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9"/>
              </a:lnSpc>
            </a:pPr>
            <a:r>
              <a:rPr lang="en-US" b="true" sz="264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Benefit</a:t>
            </a:r>
            <a:r>
              <a:rPr lang="en-US" b="true" sz="264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s:</a:t>
            </a:r>
          </a:p>
          <a:p>
            <a:pPr algn="ctr">
              <a:lnSpc>
                <a:spcPts val="3709"/>
              </a:lnSpc>
            </a:pPr>
          </a:p>
          <a:p>
            <a:pPr algn="ctr" marL="571981" indent="-285991" lvl="1">
              <a:lnSpc>
                <a:spcPts val="3709"/>
              </a:lnSpc>
              <a:buFont typeface="Arial"/>
              <a:buChar char="•"/>
            </a:pPr>
            <a:r>
              <a:rPr lang="en-US" b="true" sz="264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Im</a:t>
            </a:r>
            <a:r>
              <a:rPr lang="en-US" b="true" sz="264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mediate deleveraging</a:t>
            </a:r>
          </a:p>
          <a:p>
            <a:pPr algn="ctr" marL="571981" indent="-285991" lvl="1">
              <a:lnSpc>
                <a:spcPts val="3709"/>
              </a:lnSpc>
              <a:buFont typeface="Arial"/>
              <a:buChar char="•"/>
            </a:pPr>
            <a:r>
              <a:rPr lang="en-US" b="true" sz="264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Improved balance sheet</a:t>
            </a:r>
          </a:p>
          <a:p>
            <a:pPr algn="ctr" marL="571981" indent="-285991" lvl="1">
              <a:lnSpc>
                <a:spcPts val="3709"/>
              </a:lnSpc>
              <a:buFont typeface="Arial"/>
              <a:buChar char="•"/>
            </a:pPr>
            <a:r>
              <a:rPr lang="en-US" b="true" sz="264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Increased investor confidence</a:t>
            </a:r>
          </a:p>
          <a:p>
            <a:pPr algn="ctr">
              <a:lnSpc>
                <a:spcPts val="3709"/>
              </a:lnSpc>
            </a:pPr>
          </a:p>
        </p:txBody>
      </p:sp>
      <p:grpSp>
        <p:nvGrpSpPr>
          <p:cNvPr name="Group 26" id="26"/>
          <p:cNvGrpSpPr/>
          <p:nvPr/>
        </p:nvGrpSpPr>
        <p:grpSpPr>
          <a:xfrm rot="0">
            <a:off x="4827860" y="7601068"/>
            <a:ext cx="8632279" cy="2581630"/>
            <a:chOff x="0" y="0"/>
            <a:chExt cx="965134" cy="2886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65134" cy="288648"/>
            </a:xfrm>
            <a:custGeom>
              <a:avLst/>
              <a:gdLst/>
              <a:ahLst/>
              <a:cxnLst/>
              <a:rect r="r" b="b" t="t" l="l"/>
              <a:pathLst>
                <a:path h="288648" w="965134">
                  <a:moveTo>
                    <a:pt x="965134" y="17937"/>
                  </a:moveTo>
                  <a:lnTo>
                    <a:pt x="965134" y="270710"/>
                  </a:lnTo>
                  <a:cubicBezTo>
                    <a:pt x="965134" y="280617"/>
                    <a:pt x="957103" y="288648"/>
                    <a:pt x="947197" y="288648"/>
                  </a:cubicBezTo>
                  <a:lnTo>
                    <a:pt x="17937" y="288648"/>
                  </a:lnTo>
                  <a:cubicBezTo>
                    <a:pt x="8031" y="288648"/>
                    <a:pt x="0" y="280617"/>
                    <a:pt x="0" y="270710"/>
                  </a:cubicBezTo>
                  <a:lnTo>
                    <a:pt x="0" y="17937"/>
                  </a:lnTo>
                  <a:cubicBezTo>
                    <a:pt x="0" y="8031"/>
                    <a:pt x="8031" y="0"/>
                    <a:pt x="17937" y="0"/>
                  </a:cubicBezTo>
                  <a:lnTo>
                    <a:pt x="947197" y="0"/>
                  </a:lnTo>
                  <a:cubicBezTo>
                    <a:pt x="957103" y="0"/>
                    <a:pt x="965134" y="8031"/>
                    <a:pt x="965134" y="1793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965134" cy="3457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4827860" y="7980565"/>
            <a:ext cx="8632279" cy="2358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9"/>
              </a:lnSpc>
            </a:pPr>
            <a:r>
              <a:rPr lang="en-US" b="true" sz="264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Drawback</a:t>
            </a:r>
            <a:r>
              <a:rPr lang="en-US" b="true" sz="264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s:</a:t>
            </a:r>
          </a:p>
          <a:p>
            <a:pPr algn="ctr" marL="571981" indent="-285991" lvl="1">
              <a:lnSpc>
                <a:spcPts val="3709"/>
              </a:lnSpc>
              <a:buFont typeface="Arial"/>
              <a:buChar char="•"/>
            </a:pPr>
            <a:r>
              <a:rPr lang="en-US" b="true" sz="264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</a:t>
            </a:r>
            <a:r>
              <a:rPr lang="en-US" b="true" sz="264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ilution of ownership</a:t>
            </a:r>
          </a:p>
          <a:p>
            <a:pPr algn="ctr" marL="571981" indent="-285991" lvl="1">
              <a:lnSpc>
                <a:spcPts val="3709"/>
              </a:lnSpc>
              <a:buFont typeface="Arial"/>
              <a:buChar char="•"/>
            </a:pPr>
            <a:r>
              <a:rPr lang="en-US" b="true" sz="264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Pot</a:t>
            </a:r>
            <a:r>
              <a:rPr lang="en-US" b="true" sz="264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ential undervaluation risk</a:t>
            </a:r>
          </a:p>
          <a:p>
            <a:pPr algn="ctr">
              <a:lnSpc>
                <a:spcPts val="3709"/>
              </a:lnSpc>
            </a:pPr>
          </a:p>
          <a:p>
            <a:pPr algn="ctr">
              <a:lnSpc>
                <a:spcPts val="3709"/>
              </a:lnSpc>
            </a:pP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6813909" y="1781163"/>
            <a:ext cx="578899" cy="578899"/>
          </a:xfrm>
          <a:custGeom>
            <a:avLst/>
            <a:gdLst/>
            <a:ahLst/>
            <a:cxnLst/>
            <a:rect r="r" b="b" t="t" l="l"/>
            <a:pathLst>
              <a:path h="578899" w="578899">
                <a:moveTo>
                  <a:pt x="0" y="0"/>
                </a:moveTo>
                <a:lnTo>
                  <a:pt x="578898" y="0"/>
                </a:lnTo>
                <a:lnTo>
                  <a:pt x="578898" y="578899"/>
                </a:lnTo>
                <a:lnTo>
                  <a:pt x="0" y="5788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6813909" y="4778821"/>
            <a:ext cx="578899" cy="578899"/>
          </a:xfrm>
          <a:custGeom>
            <a:avLst/>
            <a:gdLst/>
            <a:ahLst/>
            <a:cxnLst/>
            <a:rect r="r" b="b" t="t" l="l"/>
            <a:pathLst>
              <a:path h="578899" w="578899">
                <a:moveTo>
                  <a:pt x="0" y="0"/>
                </a:moveTo>
                <a:lnTo>
                  <a:pt x="578898" y="0"/>
                </a:lnTo>
                <a:lnTo>
                  <a:pt x="578898" y="578899"/>
                </a:lnTo>
                <a:lnTo>
                  <a:pt x="0" y="5788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6813909" y="7791443"/>
            <a:ext cx="578899" cy="578899"/>
          </a:xfrm>
          <a:custGeom>
            <a:avLst/>
            <a:gdLst/>
            <a:ahLst/>
            <a:cxnLst/>
            <a:rect r="r" b="b" t="t" l="l"/>
            <a:pathLst>
              <a:path h="578899" w="578899">
                <a:moveTo>
                  <a:pt x="0" y="0"/>
                </a:moveTo>
                <a:lnTo>
                  <a:pt x="578898" y="0"/>
                </a:lnTo>
                <a:lnTo>
                  <a:pt x="578898" y="578899"/>
                </a:lnTo>
                <a:lnTo>
                  <a:pt x="0" y="5788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45380" y="-901500"/>
            <a:ext cx="10283828" cy="13195268"/>
            <a:chOff x="0" y="0"/>
            <a:chExt cx="2708498" cy="34752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8498" cy="3475297"/>
            </a:xfrm>
            <a:custGeom>
              <a:avLst/>
              <a:gdLst/>
              <a:ahLst/>
              <a:cxnLst/>
              <a:rect r="r" b="b" t="t" l="l"/>
              <a:pathLst>
                <a:path h="3475297" w="2708498">
                  <a:moveTo>
                    <a:pt x="0" y="0"/>
                  </a:moveTo>
                  <a:lnTo>
                    <a:pt x="2708498" y="0"/>
                  </a:lnTo>
                  <a:lnTo>
                    <a:pt x="2708498" y="3475297"/>
                  </a:lnTo>
                  <a:lnTo>
                    <a:pt x="0" y="347529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708498" cy="35419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9177516">
            <a:off x="-1425869" y="-4059400"/>
            <a:ext cx="7032155" cy="15060368"/>
            <a:chOff x="0" y="0"/>
            <a:chExt cx="1852090" cy="39665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52090" cy="3966516"/>
            </a:xfrm>
            <a:custGeom>
              <a:avLst/>
              <a:gdLst/>
              <a:ahLst/>
              <a:cxnLst/>
              <a:rect r="r" b="b" t="t" l="l"/>
              <a:pathLst>
                <a:path h="3966516" w="1852090">
                  <a:moveTo>
                    <a:pt x="0" y="0"/>
                  </a:moveTo>
                  <a:lnTo>
                    <a:pt x="1852090" y="0"/>
                  </a:lnTo>
                  <a:lnTo>
                    <a:pt x="1852090" y="3966516"/>
                  </a:lnTo>
                  <a:lnTo>
                    <a:pt x="0" y="396651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852090" cy="4033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225874" y="-2531294"/>
            <a:ext cx="5406668" cy="5406668"/>
          </a:xfrm>
          <a:custGeom>
            <a:avLst/>
            <a:gdLst/>
            <a:ahLst/>
            <a:cxnLst/>
            <a:rect r="r" b="b" t="t" l="l"/>
            <a:pathLst>
              <a:path h="5406668" w="5406668">
                <a:moveTo>
                  <a:pt x="0" y="0"/>
                </a:moveTo>
                <a:lnTo>
                  <a:pt x="5406668" y="0"/>
                </a:lnTo>
                <a:lnTo>
                  <a:pt x="5406668" y="5406668"/>
                </a:lnTo>
                <a:lnTo>
                  <a:pt x="0" y="5406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098007" y="7249619"/>
            <a:ext cx="5406668" cy="5406668"/>
          </a:xfrm>
          <a:custGeom>
            <a:avLst/>
            <a:gdLst/>
            <a:ahLst/>
            <a:cxnLst/>
            <a:rect r="r" b="b" t="t" l="l"/>
            <a:pathLst>
              <a:path h="5406668" w="5406668">
                <a:moveTo>
                  <a:pt x="0" y="0"/>
                </a:moveTo>
                <a:lnTo>
                  <a:pt x="5406668" y="0"/>
                </a:lnTo>
                <a:lnTo>
                  <a:pt x="5406668" y="5406668"/>
                </a:lnTo>
                <a:lnTo>
                  <a:pt x="0" y="5406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641783" y="4707247"/>
            <a:ext cx="2108093" cy="1977774"/>
          </a:xfrm>
          <a:custGeom>
            <a:avLst/>
            <a:gdLst/>
            <a:ahLst/>
            <a:cxnLst/>
            <a:rect r="r" b="b" t="t" l="l"/>
            <a:pathLst>
              <a:path h="1977774" w="2108093">
                <a:moveTo>
                  <a:pt x="0" y="0"/>
                </a:moveTo>
                <a:lnTo>
                  <a:pt x="2108092" y="0"/>
                </a:lnTo>
                <a:lnTo>
                  <a:pt x="2108092" y="1977775"/>
                </a:lnTo>
                <a:lnTo>
                  <a:pt x="0" y="19777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996801" y="456565"/>
            <a:ext cx="9040209" cy="108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111111"/>
                </a:solidFill>
                <a:latin typeface="Agrandir Bold"/>
                <a:ea typeface="Agrandir Bold"/>
                <a:cs typeface="Agrandir Bold"/>
                <a:sym typeface="Agrandir Bold"/>
              </a:rPr>
              <a:t>Valuation </a:t>
            </a:r>
            <a:r>
              <a:rPr lang="en-US" sz="6800" b="true">
                <a:solidFill>
                  <a:srgbClr val="111111"/>
                </a:solidFill>
                <a:latin typeface="Agrandir Bold"/>
                <a:ea typeface="Agrandir Bold"/>
                <a:cs typeface="Agrandir Bold"/>
                <a:sym typeface="Agrandir Bold"/>
              </a:rPr>
              <a:t>Impact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62851" y="2033458"/>
            <a:ext cx="11900439" cy="6933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true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Before Stake Sale:</a:t>
            </a:r>
          </a:p>
          <a:p>
            <a:pPr algn="l">
              <a:lnSpc>
                <a:spcPts val="4339"/>
              </a:lnSpc>
            </a:pPr>
          </a:p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High leverage →</a:t>
            </a:r>
            <a:r>
              <a:rPr lang="en-US" sz="3099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 lower valuation multiples</a:t>
            </a:r>
          </a:p>
          <a:p>
            <a:pPr algn="l">
              <a:lnSpc>
                <a:spcPts val="4339"/>
              </a:lnSpc>
            </a:pPr>
          </a:p>
          <a:p>
            <a:pPr algn="l" marL="0" indent="0" lvl="0">
              <a:lnSpc>
                <a:spcPts val="4339"/>
              </a:lnSpc>
            </a:pPr>
            <a:r>
              <a:rPr lang="en-US" b="true" sz="3099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After Stake Sale:</a:t>
            </a:r>
          </a:p>
          <a:p>
            <a:pPr algn="l" marL="0" indent="0" lvl="0">
              <a:lnSpc>
                <a:spcPts val="4339"/>
              </a:lnSpc>
            </a:pPr>
          </a:p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Reduced debt → i</a:t>
            </a:r>
            <a:r>
              <a:rPr lang="en-US" sz="3099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mproved EV/EBITDA multiple</a:t>
            </a:r>
          </a:p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Better investor sentiment</a:t>
            </a:r>
          </a:p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3099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otenti</a:t>
            </a:r>
            <a:r>
              <a:rPr lang="en-US" sz="3099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al re-rating</a:t>
            </a:r>
          </a:p>
          <a:p>
            <a:pPr algn="l">
              <a:lnSpc>
                <a:spcPts val="4339"/>
              </a:lnSpc>
            </a:pPr>
          </a:p>
          <a:p>
            <a:pPr algn="l">
              <a:lnSpc>
                <a:spcPts val="4339"/>
              </a:lnSpc>
            </a:pPr>
            <a:r>
              <a:rPr lang="en-US" sz="3099" b="true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EV/EBITDA:</a:t>
            </a:r>
            <a:r>
              <a:rPr lang="en-US" sz="3099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 8.0x → 9.5x</a:t>
            </a:r>
          </a:p>
          <a:p>
            <a:pPr algn="l" marL="0" indent="0" lvl="0">
              <a:lnSpc>
                <a:spcPts val="4339"/>
              </a:lnSpc>
            </a:pPr>
          </a:p>
          <a:p>
            <a:pPr algn="l">
              <a:lnSpc>
                <a:spcPts val="3080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5913439">
            <a:off x="10602445" y="9180462"/>
            <a:ext cx="9849240" cy="8488254"/>
          </a:xfrm>
          <a:custGeom>
            <a:avLst/>
            <a:gdLst/>
            <a:ahLst/>
            <a:cxnLst/>
            <a:rect r="r" b="b" t="t" l="l"/>
            <a:pathLst>
              <a:path h="8488254" w="9849240">
                <a:moveTo>
                  <a:pt x="0" y="0"/>
                </a:moveTo>
                <a:lnTo>
                  <a:pt x="9849240" y="0"/>
                </a:lnTo>
                <a:lnTo>
                  <a:pt x="9849240" y="8488254"/>
                </a:lnTo>
                <a:lnTo>
                  <a:pt x="0" y="84882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5917297">
            <a:off x="-2988195" y="-4786312"/>
            <a:ext cx="8033791" cy="6923667"/>
          </a:xfrm>
          <a:custGeom>
            <a:avLst/>
            <a:gdLst/>
            <a:ahLst/>
            <a:cxnLst/>
            <a:rect r="r" b="b" t="t" l="l"/>
            <a:pathLst>
              <a:path h="6923667" w="8033791">
                <a:moveTo>
                  <a:pt x="0" y="0"/>
                </a:moveTo>
                <a:lnTo>
                  <a:pt x="8033790" y="0"/>
                </a:lnTo>
                <a:lnTo>
                  <a:pt x="8033790" y="6923667"/>
                </a:lnTo>
                <a:lnTo>
                  <a:pt x="0" y="69236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849357" y="8738870"/>
            <a:ext cx="13376517" cy="5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true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Delev</a:t>
            </a:r>
            <a:r>
              <a:rPr lang="en-US" sz="3099" b="true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eraging improves valuation beyond just reducing debt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506110" y="3617890"/>
            <a:ext cx="7315200" cy="2221000"/>
          </a:xfrm>
          <a:custGeom>
            <a:avLst/>
            <a:gdLst/>
            <a:ahLst/>
            <a:cxnLst/>
            <a:rect r="r" b="b" t="t" l="l"/>
            <a:pathLst>
              <a:path h="2221000" w="7315200">
                <a:moveTo>
                  <a:pt x="0" y="0"/>
                </a:moveTo>
                <a:lnTo>
                  <a:pt x="7315200" y="0"/>
                </a:lnTo>
                <a:lnTo>
                  <a:pt x="7315200" y="2221001"/>
                </a:lnTo>
                <a:lnTo>
                  <a:pt x="0" y="2221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370706" y="5538422"/>
            <a:ext cx="3815785" cy="1254571"/>
            <a:chOff x="0" y="0"/>
            <a:chExt cx="1004980" cy="3304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04980" cy="330422"/>
            </a:xfrm>
            <a:custGeom>
              <a:avLst/>
              <a:gdLst/>
              <a:ahLst/>
              <a:cxnLst/>
              <a:rect r="r" b="b" t="t" l="l"/>
              <a:pathLst>
                <a:path h="330422" w="1004980">
                  <a:moveTo>
                    <a:pt x="0" y="0"/>
                  </a:moveTo>
                  <a:lnTo>
                    <a:pt x="1004980" y="0"/>
                  </a:lnTo>
                  <a:lnTo>
                    <a:pt x="1004980" y="330422"/>
                  </a:lnTo>
                  <a:lnTo>
                    <a:pt x="0" y="330422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004980" cy="397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995825" y="2798326"/>
            <a:ext cx="563046" cy="563046"/>
          </a:xfrm>
          <a:custGeom>
            <a:avLst/>
            <a:gdLst/>
            <a:ahLst/>
            <a:cxnLst/>
            <a:rect r="r" b="b" t="t" l="l"/>
            <a:pathLst>
              <a:path h="563046" w="563046">
                <a:moveTo>
                  <a:pt x="0" y="0"/>
                </a:moveTo>
                <a:lnTo>
                  <a:pt x="563046" y="0"/>
                </a:lnTo>
                <a:lnTo>
                  <a:pt x="563046" y="563046"/>
                </a:lnTo>
                <a:lnTo>
                  <a:pt x="0" y="5630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044307" y="4323397"/>
            <a:ext cx="563046" cy="563046"/>
          </a:xfrm>
          <a:custGeom>
            <a:avLst/>
            <a:gdLst/>
            <a:ahLst/>
            <a:cxnLst/>
            <a:rect r="r" b="b" t="t" l="l"/>
            <a:pathLst>
              <a:path h="563046" w="563046">
                <a:moveTo>
                  <a:pt x="0" y="0"/>
                </a:moveTo>
                <a:lnTo>
                  <a:pt x="563046" y="0"/>
                </a:lnTo>
                <a:lnTo>
                  <a:pt x="563046" y="563047"/>
                </a:lnTo>
                <a:lnTo>
                  <a:pt x="0" y="5630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044307" y="5848469"/>
            <a:ext cx="563046" cy="563046"/>
          </a:xfrm>
          <a:custGeom>
            <a:avLst/>
            <a:gdLst/>
            <a:ahLst/>
            <a:cxnLst/>
            <a:rect r="r" b="b" t="t" l="l"/>
            <a:pathLst>
              <a:path h="563046" w="563046">
                <a:moveTo>
                  <a:pt x="0" y="0"/>
                </a:moveTo>
                <a:lnTo>
                  <a:pt x="563046" y="0"/>
                </a:lnTo>
                <a:lnTo>
                  <a:pt x="563046" y="563046"/>
                </a:lnTo>
                <a:lnTo>
                  <a:pt x="0" y="5630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-819827" y="-2930721"/>
            <a:ext cx="7315200" cy="2221000"/>
          </a:xfrm>
          <a:custGeom>
            <a:avLst/>
            <a:gdLst/>
            <a:ahLst/>
            <a:cxnLst/>
            <a:rect r="r" b="b" t="t" l="l"/>
            <a:pathLst>
              <a:path h="2221000" w="7315200">
                <a:moveTo>
                  <a:pt x="0" y="0"/>
                </a:moveTo>
                <a:lnTo>
                  <a:pt x="7315200" y="0"/>
                </a:lnTo>
                <a:lnTo>
                  <a:pt x="7315200" y="2221000"/>
                </a:lnTo>
                <a:lnTo>
                  <a:pt x="0" y="2221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120691" y="0"/>
            <a:ext cx="1438181" cy="1254571"/>
            <a:chOff x="0" y="0"/>
            <a:chExt cx="378780" cy="3304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8780" cy="330422"/>
            </a:xfrm>
            <a:custGeom>
              <a:avLst/>
              <a:gdLst/>
              <a:ahLst/>
              <a:cxnLst/>
              <a:rect r="r" b="b" t="t" l="l"/>
              <a:pathLst>
                <a:path h="330422" w="378780">
                  <a:moveTo>
                    <a:pt x="0" y="0"/>
                  </a:moveTo>
                  <a:lnTo>
                    <a:pt x="378780" y="0"/>
                  </a:lnTo>
                  <a:lnTo>
                    <a:pt x="378780" y="330422"/>
                  </a:lnTo>
                  <a:lnTo>
                    <a:pt x="0" y="330422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378780" cy="397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6273328" y="739904"/>
            <a:ext cx="1081512" cy="1101540"/>
          </a:xfrm>
          <a:custGeom>
            <a:avLst/>
            <a:gdLst/>
            <a:ahLst/>
            <a:cxnLst/>
            <a:rect r="r" b="b" t="t" l="l"/>
            <a:pathLst>
              <a:path h="1101540" w="1081512">
                <a:moveTo>
                  <a:pt x="0" y="0"/>
                </a:moveTo>
                <a:lnTo>
                  <a:pt x="1081512" y="0"/>
                </a:lnTo>
                <a:lnTo>
                  <a:pt x="1081512" y="1101539"/>
                </a:lnTo>
                <a:lnTo>
                  <a:pt x="0" y="11015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329960" y="597479"/>
            <a:ext cx="6827197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19"/>
              </a:lnSpc>
              <a:spcBef>
                <a:spcPct val="0"/>
              </a:spcBef>
            </a:pPr>
            <a:r>
              <a:rPr lang="en-US" b="true" sz="7199">
                <a:solidFill>
                  <a:srgbClr val="111111"/>
                </a:solidFill>
                <a:latin typeface="Agrandir Bold"/>
                <a:ea typeface="Agrandir Bold"/>
                <a:cs typeface="Agrandir Bold"/>
                <a:sym typeface="Agrandir Bold"/>
              </a:rPr>
              <a:t>Risks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672680" y="2481044"/>
            <a:ext cx="5916715" cy="110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3099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elling stakes at di</a:t>
            </a:r>
            <a:r>
              <a:rPr lang="en-US" sz="3099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scounted valuations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672680" y="4287639"/>
            <a:ext cx="6026218" cy="110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Los</a:t>
            </a:r>
            <a:r>
              <a:rPr lang="en-US" sz="3099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s of control in key ass</a:t>
            </a:r>
            <a:r>
              <a:rPr lang="en-US" sz="3099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ets</a:t>
            </a:r>
          </a:p>
          <a:p>
            <a:pPr algn="l">
              <a:lnSpc>
                <a:spcPts val="433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4672680" y="5774870"/>
            <a:ext cx="5991295" cy="110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3099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arke</a:t>
            </a:r>
            <a:r>
              <a:rPr lang="en-US" sz="3099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t timing risk</a:t>
            </a:r>
          </a:p>
          <a:p>
            <a:pPr algn="l">
              <a:lnSpc>
                <a:spcPts val="4339"/>
              </a:lnSpc>
            </a:pPr>
          </a:p>
        </p:txBody>
      </p:sp>
      <p:sp>
        <p:nvSpPr>
          <p:cNvPr name="Freeform 18" id="18"/>
          <p:cNvSpPr/>
          <p:nvPr/>
        </p:nvSpPr>
        <p:spPr>
          <a:xfrm flipH="false" flipV="false" rot="7011907">
            <a:off x="9002127" y="8640451"/>
            <a:ext cx="9849240" cy="8488254"/>
          </a:xfrm>
          <a:custGeom>
            <a:avLst/>
            <a:gdLst/>
            <a:ahLst/>
            <a:cxnLst/>
            <a:rect r="r" b="b" t="t" l="l"/>
            <a:pathLst>
              <a:path h="8488254" w="9849240">
                <a:moveTo>
                  <a:pt x="0" y="0"/>
                </a:moveTo>
                <a:lnTo>
                  <a:pt x="9849240" y="0"/>
                </a:lnTo>
                <a:lnTo>
                  <a:pt x="9849240" y="8488254"/>
                </a:lnTo>
                <a:lnTo>
                  <a:pt x="0" y="84882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5400000">
            <a:off x="1823948" y="8735609"/>
            <a:ext cx="425110" cy="2015607"/>
          </a:xfrm>
          <a:custGeom>
            <a:avLst/>
            <a:gdLst/>
            <a:ahLst/>
            <a:cxnLst/>
            <a:rect r="r" b="b" t="t" l="l"/>
            <a:pathLst>
              <a:path h="2015607" w="425110">
                <a:moveTo>
                  <a:pt x="0" y="0"/>
                </a:moveTo>
                <a:lnTo>
                  <a:pt x="425110" y="0"/>
                </a:lnTo>
                <a:lnTo>
                  <a:pt x="425110" y="2015607"/>
                </a:lnTo>
                <a:lnTo>
                  <a:pt x="0" y="20156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044307" y="7373540"/>
            <a:ext cx="563046" cy="563046"/>
          </a:xfrm>
          <a:custGeom>
            <a:avLst/>
            <a:gdLst/>
            <a:ahLst/>
            <a:cxnLst/>
            <a:rect r="r" b="b" t="t" l="l"/>
            <a:pathLst>
              <a:path h="563046" w="563046">
                <a:moveTo>
                  <a:pt x="0" y="0"/>
                </a:moveTo>
                <a:lnTo>
                  <a:pt x="563046" y="0"/>
                </a:lnTo>
                <a:lnTo>
                  <a:pt x="563046" y="563047"/>
                </a:lnTo>
                <a:lnTo>
                  <a:pt x="0" y="5630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4672680" y="6784796"/>
            <a:ext cx="5916715" cy="164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Regulatory / mac</a:t>
            </a:r>
            <a:r>
              <a:rPr lang="en-US" sz="3099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ro uncertainty</a:t>
            </a:r>
          </a:p>
          <a:p>
            <a:pPr algn="l">
              <a:lnSpc>
                <a:spcPts val="433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02644">
            <a:off x="-4268444" y="5197787"/>
            <a:ext cx="10097504" cy="6681491"/>
          </a:xfrm>
          <a:custGeom>
            <a:avLst/>
            <a:gdLst/>
            <a:ahLst/>
            <a:cxnLst/>
            <a:rect r="r" b="b" t="t" l="l"/>
            <a:pathLst>
              <a:path h="6681491" w="10097504">
                <a:moveTo>
                  <a:pt x="0" y="0"/>
                </a:moveTo>
                <a:lnTo>
                  <a:pt x="10097505" y="0"/>
                </a:lnTo>
                <a:lnTo>
                  <a:pt x="10097505" y="6681491"/>
                </a:lnTo>
                <a:lnTo>
                  <a:pt x="0" y="66814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54826" y="1037500"/>
            <a:ext cx="7909568" cy="7909568"/>
          </a:xfrm>
          <a:custGeom>
            <a:avLst/>
            <a:gdLst/>
            <a:ahLst/>
            <a:cxnLst/>
            <a:rect r="r" b="b" t="t" l="l"/>
            <a:pathLst>
              <a:path h="7909568" w="7909568">
                <a:moveTo>
                  <a:pt x="0" y="0"/>
                </a:moveTo>
                <a:lnTo>
                  <a:pt x="7909568" y="0"/>
                </a:lnTo>
                <a:lnTo>
                  <a:pt x="7909568" y="7909568"/>
                </a:lnTo>
                <a:lnTo>
                  <a:pt x="0" y="79095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275808" y="516550"/>
            <a:ext cx="6571938" cy="114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111111"/>
                </a:solidFill>
                <a:latin typeface="Agrandir Bold"/>
                <a:ea typeface="Agrandir Bold"/>
                <a:cs typeface="Agrandir Bold"/>
                <a:sym typeface="Agrandir Bold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17117" y="2205355"/>
            <a:ext cx="10188268" cy="490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</a:p>
          <a:p>
            <a:pPr algn="l">
              <a:lnSpc>
                <a:spcPts val="4339"/>
              </a:lnSpc>
            </a:pPr>
          </a:p>
          <a:p>
            <a:pPr algn="l" marL="669289" indent="-334645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Stake sales c</a:t>
            </a:r>
            <a:r>
              <a:rPr lang="en-US" sz="3099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an be an effective deleveraging tool</a:t>
            </a:r>
          </a:p>
          <a:p>
            <a:pPr algn="l">
              <a:lnSpc>
                <a:spcPts val="4339"/>
              </a:lnSpc>
            </a:pPr>
          </a:p>
          <a:p>
            <a:pPr algn="l" marL="669289" indent="-334645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Best used selectively across high value assets</a:t>
            </a:r>
          </a:p>
          <a:p>
            <a:pPr algn="l">
              <a:lnSpc>
                <a:spcPts val="4339"/>
              </a:lnSpc>
            </a:pPr>
          </a:p>
          <a:p>
            <a:pPr algn="l">
              <a:lnSpc>
                <a:spcPts val="4339"/>
              </a:lnSpc>
            </a:pPr>
          </a:p>
          <a:p>
            <a:pPr algn="l">
              <a:lnSpc>
                <a:spcPts val="4339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400285" y="-2057400"/>
            <a:ext cx="6003024" cy="4114800"/>
          </a:xfrm>
          <a:custGeom>
            <a:avLst/>
            <a:gdLst/>
            <a:ahLst/>
            <a:cxnLst/>
            <a:rect r="r" b="b" t="t" l="l"/>
            <a:pathLst>
              <a:path h="4114800" w="6003024">
                <a:moveTo>
                  <a:pt x="0" y="0"/>
                </a:moveTo>
                <a:lnTo>
                  <a:pt x="6003024" y="0"/>
                </a:lnTo>
                <a:lnTo>
                  <a:pt x="60030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2700000">
            <a:off x="-717018" y="-337368"/>
            <a:ext cx="1434036" cy="1512936"/>
            <a:chOff x="0" y="0"/>
            <a:chExt cx="377689" cy="39846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77689" cy="398469"/>
            </a:xfrm>
            <a:custGeom>
              <a:avLst/>
              <a:gdLst/>
              <a:ahLst/>
              <a:cxnLst/>
              <a:rect r="r" b="b" t="t" l="l"/>
              <a:pathLst>
                <a:path h="398469" w="377689">
                  <a:moveTo>
                    <a:pt x="0" y="0"/>
                  </a:moveTo>
                  <a:lnTo>
                    <a:pt x="377689" y="0"/>
                  </a:lnTo>
                  <a:lnTo>
                    <a:pt x="377689" y="398469"/>
                  </a:lnTo>
                  <a:lnTo>
                    <a:pt x="0" y="398469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377689" cy="4651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2700000">
            <a:off x="2006223" y="-1379280"/>
            <a:ext cx="1434036" cy="1512936"/>
            <a:chOff x="0" y="0"/>
            <a:chExt cx="377689" cy="39846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7689" cy="398469"/>
            </a:xfrm>
            <a:custGeom>
              <a:avLst/>
              <a:gdLst/>
              <a:ahLst/>
              <a:cxnLst/>
              <a:rect r="r" b="b" t="t" l="l"/>
              <a:pathLst>
                <a:path h="398469" w="377689">
                  <a:moveTo>
                    <a:pt x="0" y="0"/>
                  </a:moveTo>
                  <a:lnTo>
                    <a:pt x="377689" y="0"/>
                  </a:lnTo>
                  <a:lnTo>
                    <a:pt x="377689" y="398469"/>
                  </a:lnTo>
                  <a:lnTo>
                    <a:pt x="0" y="398469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377689" cy="4651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055947" y="7567628"/>
            <a:ext cx="2653663" cy="2923564"/>
            <a:chOff x="0" y="0"/>
            <a:chExt cx="698907" cy="7699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8907" cy="769992"/>
            </a:xfrm>
            <a:custGeom>
              <a:avLst/>
              <a:gdLst/>
              <a:ahLst/>
              <a:cxnLst/>
              <a:rect r="r" b="b" t="t" l="l"/>
              <a:pathLst>
                <a:path h="769992" w="698907">
                  <a:moveTo>
                    <a:pt x="0" y="0"/>
                  </a:moveTo>
                  <a:lnTo>
                    <a:pt x="698907" y="0"/>
                  </a:lnTo>
                  <a:lnTo>
                    <a:pt x="698907" y="769992"/>
                  </a:lnTo>
                  <a:lnTo>
                    <a:pt x="0" y="769992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698907" cy="836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10033926">
            <a:off x="13054083" y="-1243796"/>
            <a:ext cx="8777370" cy="5807962"/>
          </a:xfrm>
          <a:custGeom>
            <a:avLst/>
            <a:gdLst/>
            <a:ahLst/>
            <a:cxnLst/>
            <a:rect r="r" b="b" t="t" l="l"/>
            <a:pathLst>
              <a:path h="5807962" w="8777370">
                <a:moveTo>
                  <a:pt x="0" y="0"/>
                </a:moveTo>
                <a:lnTo>
                  <a:pt x="8777370" y="0"/>
                </a:lnTo>
                <a:lnTo>
                  <a:pt x="8777370" y="5807962"/>
                </a:lnTo>
                <a:lnTo>
                  <a:pt x="0" y="5807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305052" y="7925798"/>
            <a:ext cx="442980" cy="442980"/>
          </a:xfrm>
          <a:custGeom>
            <a:avLst/>
            <a:gdLst/>
            <a:ahLst/>
            <a:cxnLst/>
            <a:rect r="r" b="b" t="t" l="l"/>
            <a:pathLst>
              <a:path h="442980" w="442980">
                <a:moveTo>
                  <a:pt x="0" y="0"/>
                </a:moveTo>
                <a:lnTo>
                  <a:pt x="442980" y="0"/>
                </a:lnTo>
                <a:lnTo>
                  <a:pt x="442980" y="442980"/>
                </a:lnTo>
                <a:lnTo>
                  <a:pt x="0" y="4429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995627" y="1037500"/>
            <a:ext cx="442980" cy="442980"/>
          </a:xfrm>
          <a:custGeom>
            <a:avLst/>
            <a:gdLst/>
            <a:ahLst/>
            <a:cxnLst/>
            <a:rect r="r" b="b" t="t" l="l"/>
            <a:pathLst>
              <a:path h="442980" w="442980">
                <a:moveTo>
                  <a:pt x="0" y="0"/>
                </a:moveTo>
                <a:lnTo>
                  <a:pt x="442980" y="0"/>
                </a:lnTo>
                <a:lnTo>
                  <a:pt x="442980" y="442980"/>
                </a:lnTo>
                <a:lnTo>
                  <a:pt x="0" y="4429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255965" y="6734096"/>
            <a:ext cx="13776070" cy="273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true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“</a:t>
            </a:r>
            <a:r>
              <a:rPr lang="en-US" sz="3099" b="true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Deleverag</a:t>
            </a:r>
            <a:r>
              <a:rPr lang="en-US" sz="3099" b="true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ing is no</a:t>
            </a:r>
            <a:r>
              <a:rPr lang="en-US" sz="3099" b="true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 just </a:t>
            </a:r>
            <a:r>
              <a:rPr lang="en-US" sz="3099" b="true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about reducing debt, it’s about restoring confidence and unlocking valuation.”</a:t>
            </a:r>
          </a:p>
          <a:p>
            <a:pPr algn="l">
              <a:lnSpc>
                <a:spcPts val="4339"/>
              </a:lnSpc>
            </a:pPr>
          </a:p>
          <a:p>
            <a:pPr algn="l">
              <a:lnSpc>
                <a:spcPts val="4339"/>
              </a:lnSpc>
            </a:pPr>
          </a:p>
          <a:p>
            <a:pPr algn="l">
              <a:lnSpc>
                <a:spcPts val="4339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DAHFsN_alGs</dc:identifier>
  <dcterms:modified xsi:type="dcterms:W3CDTF">2011-08-01T06:04:30Z</dcterms:modified>
  <cp:revision>1</cp:revision>
  <dc:title>Adani Group Capital Structure &amp; Deleveraging Strategy Should Stake Sales Unlock Value?</dc:title>
</cp:coreProperties>
</file>